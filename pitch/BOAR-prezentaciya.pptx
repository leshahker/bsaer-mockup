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A6B3D"/>
                </a:solidFill>
                <a:latin typeface="Calibri"/>
              </a:rPr>
              <a:t>ПРЕЗЕНТАЦИЯ ДЛЯ РУКОВОДСТВА ОБЩЕСТВА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CF7"/>
                </a:solidFill>
                <a:latin typeface="Georgia"/>
              </a:rPr>
              <a:t>Новый сайт БОАР
как рабочий инструмент врача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5D4CE"/>
                </a:solidFill>
                <a:latin typeface="Calibri"/>
              </a:rPr>
              <a:t>Заседания, документы, обучение, вступление и кабинет члена —
в одном современном продукте.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56E"/>
                </a:solidFill>
                <a:latin typeface="Calibri"/>
              </a:rPr>
              <a:t>Сентябрь 2026 · макет для согласования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6B3D"/>
                </a:solidFill>
                <a:latin typeface="Calibri"/>
              </a:rPr>
              <a:t>ЗАЧЕМ МЕНЯТЬ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41F"/>
                </a:solidFill>
                <a:latin typeface="Georgia"/>
              </a:rPr>
              <a:t>Что нужно профессору и практикующему врачу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94960" cy="1828800"/>
          </a:xfrm>
          <a:prstGeom prst="rect">
            <a:avLst/>
          </a:prstGeom>
          <a:solidFill>
            <a:srgbClr val="FAF7F1"/>
          </a:solidFill>
          <a:ln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A6B3D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241F"/>
                </a:solidFill>
                <a:latin typeface="Georgia"/>
              </a:rPr>
              <a:t>Быстро найти заседание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56E"/>
                </a:solidFill>
                <a:latin typeface="Calibri"/>
              </a:rPr>
              <a:t>Дата, зал, программа — без поиска по ленте новостей.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94960" cy="1828800"/>
          </a:xfrm>
          <a:prstGeom prst="rect">
            <a:avLst/>
          </a:prstGeom>
          <a:solidFill>
            <a:srgbClr val="FAF7F1"/>
          </a:solidFill>
          <a:ln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A6B3D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241F"/>
                </a:solidFill>
                <a:latin typeface="Georgia"/>
              </a:rPr>
              <a:t>Открыть нужный документ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517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56E"/>
                </a:solidFill>
                <a:latin typeface="Calibri"/>
              </a:rPr>
              <a:t>Протокол, санэпид, ФАР — по разделам.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5394960" cy="1828800"/>
          </a:xfrm>
          <a:prstGeom prst="rect">
            <a:avLst/>
          </a:prstGeom>
          <a:solidFill>
            <a:srgbClr val="FAF7F1"/>
          </a:solidFill>
          <a:ln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A6B3D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241F"/>
                </a:solidFill>
                <a:latin typeface="Georgia"/>
              </a:rPr>
              <a:t>Показать общество коллегам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5487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56E"/>
                </a:solidFill>
                <a:latin typeface="Calibri"/>
              </a:rPr>
              <a:t>Сайт, который не стыдно открыть на лекции и съезде.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5394960" cy="1828800"/>
          </a:xfrm>
          <a:prstGeom prst="rect">
            <a:avLst/>
          </a:prstGeom>
          <a:solidFill>
            <a:srgbClr val="FAF7F1"/>
          </a:solidFill>
          <a:ln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9776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A6B3D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976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241F"/>
                </a:solidFill>
                <a:latin typeface="Georgia"/>
              </a:rPr>
              <a:t>Принять нового члена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7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756E"/>
                </a:solidFill>
                <a:latin typeface="Calibri"/>
              </a:rPr>
              <a:t>Понятный путь заявки вместо письма «куда-нибудь».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56E"/>
                </a:solidFill>
                <a:latin typeface="Calibri"/>
              </a:rPr>
              <a:t>БОАР · новый сайт общества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56E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6B3D"/>
                </a:solidFill>
                <a:latin typeface="Calibri"/>
              </a:rPr>
              <a:t>ГЛАВНАЯ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241F"/>
                </a:solidFill>
                <a:latin typeface="Georgia"/>
              </a:rPr>
              <a:t>Ближайшее заседание — сразу в первом экране</a:t>
            </a:r>
          </a:p>
        </p:txBody>
      </p:sp>
      <p:pic>
        <p:nvPicPr>
          <p:cNvPr id="5" name="Picture 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8046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56E"/>
                </a:solidFill>
                <a:latin typeface="Calibri"/>
              </a:rPr>
              <a:t>БОАР · новый сайт общества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56E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6B3D"/>
                </a:solidFill>
                <a:latin typeface="Calibri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7241F"/>
                </a:solidFill>
                <a:latin typeface="Georgia"/>
              </a:rPr>
              <a:t>Старый сайт → новый продукт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FAF7F1"/>
          </a:solidFill>
          <a:ln>
            <a:solidFill>
              <a:srgbClr val="8A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FAF7F1"/>
          </a:solidFill>
          <a:ln>
            <a:solidFill>
              <a:srgbClr val="2B5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3A2A"/>
                </a:solidFill>
                <a:latin typeface="Georgia"/>
              </a:rPr>
              <a:t>Было (bsaer.org)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B5C45"/>
                </a:solidFill>
                <a:latin typeface="Georgia"/>
              </a:rPr>
              <a:t>Стало (новый макет)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41F"/>
                </a:solidFill>
                <a:latin typeface="Calibri"/>
              </a:rPr>
              <a:t>• Новостная лента как главный экран
• Документы «где-то в разделах»
• Съезды и заседания вперемешку
• Вступление через почту
• Устаревший визуальный язык
• Слабая мобильная читаемость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41F"/>
                </a:solidFill>
                <a:latin typeface="Calibri"/>
              </a:rPr>
              <a:t>• Действие и заседание сразу
• Каталог с 6 понятными разделами
• Календарь + архив без путаницы
• Форма членства и понятные шаги
• Сдержанный медицинский дизайн
• Адаптив под телефон и проектор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56E"/>
                </a:solidFill>
                <a:latin typeface="Calibri"/>
              </a:rPr>
              <a:t>БОАР · новый сайт общества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56E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6B3D"/>
                </a:solidFill>
                <a:latin typeface="Calibri"/>
              </a:rPr>
              <a:t>БИБЛИОТЕКА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41F"/>
                </a:solidFill>
                <a:latin typeface="Georgia"/>
              </a:rPr>
              <a:t>Шесть разделов: книги, протоколы, санэпид, статьи, ФАР, видео</a:t>
            </a:r>
          </a:p>
        </p:txBody>
      </p:sp>
      <p:pic>
        <p:nvPicPr>
          <p:cNvPr id="5" name="Picture 4" descr="02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8046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56E"/>
                </a:solidFill>
                <a:latin typeface="Calibri"/>
              </a:rPr>
              <a:t>БОАР · новый сайт общества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56E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6B3D"/>
                </a:solidFill>
                <a:latin typeface="Calibri"/>
              </a:rPr>
              <a:t>ПРОТОКОЛЫ И САНЭПИД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41F"/>
                </a:solidFill>
                <a:latin typeface="Georgia"/>
              </a:rPr>
              <a:t>Документы разложены так, как ими пользуются врачи</a:t>
            </a:r>
          </a:p>
        </p:txBody>
      </p:sp>
      <p:pic>
        <p:nvPicPr>
          <p:cNvPr id="5" name="Picture 4" descr="08-library-protoc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8046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56E"/>
                </a:solidFill>
                <a:latin typeface="Calibri"/>
              </a:rPr>
              <a:t>БОАР · новый сайт общества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56E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6B3D"/>
                </a:solidFill>
                <a:latin typeface="Calibri"/>
              </a:rPr>
              <a:t>СОБЫТИЯ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41F"/>
                </a:solidFill>
                <a:latin typeface="Georgia"/>
              </a:rPr>
              <a:t>Календарь ближайших заседаний и архив съездов</a:t>
            </a:r>
          </a:p>
        </p:txBody>
      </p:sp>
      <p:pic>
        <p:nvPicPr>
          <p:cNvPr id="5" name="Picture 4" descr="03-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8046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56E"/>
                </a:solidFill>
                <a:latin typeface="Calibri"/>
              </a:rPr>
              <a:t>БОАР · новый сайт общества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56E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6B3D"/>
                </a:solidFill>
                <a:latin typeface="Calibri"/>
              </a:rPr>
              <a:t>ВСТУПЛЕНИЕ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41F"/>
                </a:solidFill>
                <a:latin typeface="Georgia"/>
              </a:rPr>
              <a:t>Путь в членство: статус → заявка → взнос</a:t>
            </a:r>
          </a:p>
        </p:txBody>
      </p:sp>
      <p:pic>
        <p:nvPicPr>
          <p:cNvPr id="5" name="Picture 4" descr="05-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8046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56E"/>
                </a:solidFill>
                <a:latin typeface="Calibri"/>
              </a:rPr>
              <a:t>БОАР · новый сайт общества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56E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6B3D"/>
                </a:solidFill>
                <a:latin typeface="Calibri"/>
              </a:rPr>
              <a:t>ПАЦИЕНТАМ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41F"/>
                </a:solidFill>
                <a:latin typeface="Georgia"/>
              </a:rPr>
              <a:t>Спокойные ответы без ложных обещаний</a:t>
            </a:r>
          </a:p>
        </p:txBody>
      </p:sp>
      <p:pic>
        <p:nvPicPr>
          <p:cNvPr id="5" name="Picture 4" descr="04-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8046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56E"/>
                </a:solidFill>
                <a:latin typeface="Calibri"/>
              </a:rPr>
              <a:t>БОАР · новый сайт общества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56E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6B3D"/>
                </a:solidFill>
                <a:latin typeface="Calibri"/>
              </a:rPr>
              <a:t>КАБИНЕТ ЧЛЕНА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41F"/>
                </a:solidFill>
                <a:latin typeface="Georgia"/>
              </a:rPr>
              <a:t>Демо личного кабинета — задел под закрытую зону и чат</a:t>
            </a:r>
          </a:p>
        </p:txBody>
      </p:sp>
      <p:pic>
        <p:nvPicPr>
          <p:cNvPr id="5" name="Picture 4" descr="06-cabi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80467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56E"/>
                </a:solidFill>
                <a:latin typeface="Calibri"/>
              </a:rPr>
              <a:t>БОАР · новый сайт общества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56E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A6B3D"/>
                </a:solidFill>
                <a:latin typeface="Calibri"/>
              </a:rPr>
              <a:t>ПРЕИМУЩЕСТВА ПРОДУКТА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7241F"/>
                </a:solidFill>
                <a:latin typeface="Georgia"/>
              </a:rPr>
              <a:t>Почему это лучше «просто обновить WordPress»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A6B3D"/>
                </a:solidFill>
                <a:latin typeface="Georgi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459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241F"/>
                </a:solidFill>
                <a:latin typeface="Calibri"/>
              </a:rPr>
              <a:t>Архитектура под задачи службы АиР, а не под шаблон блога.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A6B3D"/>
                </a:solidFill>
                <a:latin typeface="Georgia"/>
              </a:rPr>
              <a:t>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974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241F"/>
                </a:solidFill>
                <a:latin typeface="Calibri"/>
              </a:rPr>
              <a:t>Контент заказчика уже разложен: протоколы и санэпид из рабочих перечней.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A6B3D"/>
                </a:solidFill>
                <a:latin typeface="Georgia"/>
              </a:rPr>
              <a:t>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241F"/>
                </a:solidFill>
                <a:latin typeface="Calibri"/>
              </a:rPr>
              <a:t>Готовность к хостингу общества: статика сейчас, сервер чата — следующим этапом.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A6B3D"/>
                </a:solidFill>
                <a:latin typeface="Georgia"/>
              </a:rPr>
              <a:t>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8006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7241F"/>
                </a:solidFill>
                <a:latin typeface="Calibri"/>
              </a:rPr>
              <a:t>Можно согласовывать по экранам: каждый раздел читается отдельно.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756E"/>
                </a:solidFill>
                <a:latin typeface="Calibri"/>
              </a:rPr>
              <a:t>БОАР · новый сайт общества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56E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A6B3D"/>
                </a:solidFill>
                <a:latin typeface="Calibri"/>
              </a:rPr>
              <a:t>ПРЕДЛОЖЕНИЕ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CF7"/>
                </a:solidFill>
                <a:latin typeface="Georgia"/>
              </a:rPr>
              <a:t>Согласовать макет
и перенести на хостинг общества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5D4CE"/>
                </a:solidFill>
                <a:latin typeface="Calibri"/>
              </a:rPr>
              <a:t>Живой сайт для показа:
https://leshahker.github.io/bsaer-mockup/
Кабинет: /cabinet/  ·  демо-вход admin /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56E"/>
                </a:solidFill>
                <a:latin typeface="Calibri"/>
              </a:rPr>
              <a:t>Спасибо · БОАР · сентябрь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