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8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146304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9A6B3D"/>
                </a:solidFill>
                <a:latin typeface="Calibri"/>
              </a:rPr>
              <a:t>ПРЕЗЕНТАЦИЯ ДЛЯ РУКОВОДСТВА ОБЩЕСТВА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011680"/>
            <a:ext cx="105156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>
                <a:solidFill>
                  <a:srgbClr val="FFFCF7"/>
                </a:solidFill>
                <a:latin typeface="Georgia"/>
              </a:rPr>
              <a:t>Новый сайт БОАР
как рабочий инструмент врача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206240"/>
            <a:ext cx="9144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C5D4CE"/>
                </a:solidFill>
                <a:latin typeface="Calibri"/>
              </a:rPr>
              <a:t>Заседания, документы, обучение, вступление и кабинет члена —
в одном современном продукте.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94360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756E"/>
                </a:solidFill>
                <a:latin typeface="Calibri"/>
              </a:rPr>
              <a:t>Сентябрь 2026 · макет для согласования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EE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9A6B3D"/>
                </a:solidFill>
                <a:latin typeface="Calibri"/>
              </a:rPr>
              <a:t>ЗАЧЕМ МЕНЯТЬ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008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7241F"/>
                </a:solidFill>
                <a:latin typeface="Georgia"/>
              </a:rPr>
              <a:t>Что нужно профессору и практикующему врачу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645920"/>
            <a:ext cx="5394960" cy="1828800"/>
          </a:xfrm>
          <a:prstGeom prst="rect">
            <a:avLst/>
          </a:prstGeom>
          <a:solidFill>
            <a:srgbClr val="FAF7F1"/>
          </a:solidFill>
          <a:ln>
            <a:solidFill>
              <a:srgbClr val="D8D0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874520"/>
            <a:ext cx="4846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9A6B3D"/>
                </a:solidFill>
                <a:latin typeface="Calibri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2194560"/>
            <a:ext cx="4846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17241F"/>
                </a:solidFill>
                <a:latin typeface="Georgia"/>
              </a:rPr>
              <a:t>Быстро найти заседание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651760"/>
            <a:ext cx="48463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66756E"/>
                </a:solidFill>
                <a:latin typeface="Calibri"/>
              </a:rPr>
              <a:t>Дата, зал, программа — без поиска по ленте новостей.</a:t>
            </a:r>
          </a:p>
        </p:txBody>
      </p:sp>
      <p:sp>
        <p:nvSpPr>
          <p:cNvPr id="9" name="Rectangle 8"/>
          <p:cNvSpPr/>
          <p:nvPr/>
        </p:nvSpPr>
        <p:spPr>
          <a:xfrm>
            <a:off x="6217920" y="1645920"/>
            <a:ext cx="5394960" cy="1828800"/>
          </a:xfrm>
          <a:prstGeom prst="rect">
            <a:avLst/>
          </a:prstGeom>
          <a:solidFill>
            <a:srgbClr val="FAF7F1"/>
          </a:solidFill>
          <a:ln>
            <a:solidFill>
              <a:srgbClr val="D8D0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46520" y="1874520"/>
            <a:ext cx="4846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9A6B3D"/>
                </a:solidFill>
                <a:latin typeface="Calibri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46520" y="2194560"/>
            <a:ext cx="4846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17241F"/>
                </a:solidFill>
                <a:latin typeface="Georgia"/>
              </a:rPr>
              <a:t>Открыть нужный документ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46520" y="2651760"/>
            <a:ext cx="48463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66756E"/>
                </a:solidFill>
                <a:latin typeface="Calibri"/>
              </a:rPr>
              <a:t>Протокол, санэпид, ФАР — по разделам.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48640" y="3749039"/>
            <a:ext cx="5394960" cy="1828800"/>
          </a:xfrm>
          <a:prstGeom prst="rect">
            <a:avLst/>
          </a:prstGeom>
          <a:solidFill>
            <a:srgbClr val="FAF7F1"/>
          </a:solidFill>
          <a:ln>
            <a:solidFill>
              <a:srgbClr val="D8D0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7240" y="3977639"/>
            <a:ext cx="4846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9A6B3D"/>
                </a:solidFill>
                <a:latin typeface="Calibri"/>
              </a:rPr>
              <a:t>03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4297679"/>
            <a:ext cx="4846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17241F"/>
                </a:solidFill>
                <a:latin typeface="Georgia"/>
              </a:rPr>
              <a:t>Показать общество коллегам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" y="4754879"/>
            <a:ext cx="48463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66756E"/>
                </a:solidFill>
                <a:latin typeface="Calibri"/>
              </a:rPr>
              <a:t>Сайт, который не стыдно открыть на лекции и съезде.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217920" y="3749039"/>
            <a:ext cx="5394960" cy="1828800"/>
          </a:xfrm>
          <a:prstGeom prst="rect">
            <a:avLst/>
          </a:prstGeom>
          <a:solidFill>
            <a:srgbClr val="FAF7F1"/>
          </a:solidFill>
          <a:ln>
            <a:solidFill>
              <a:srgbClr val="D8D0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46520" y="3977639"/>
            <a:ext cx="4846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9A6B3D"/>
                </a:solidFill>
                <a:latin typeface="Calibri"/>
              </a:rPr>
              <a:t>04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46520" y="4297679"/>
            <a:ext cx="4846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17241F"/>
                </a:solidFill>
                <a:latin typeface="Georgia"/>
              </a:rPr>
              <a:t>Принять нового члена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46520" y="4754879"/>
            <a:ext cx="48463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66756E"/>
                </a:solidFill>
                <a:latin typeface="Calibri"/>
              </a:rPr>
              <a:t>Понятный путь заявки вместо письма «куда-нибудь».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66756E"/>
                </a:solidFill>
                <a:latin typeface="Calibri"/>
              </a:rPr>
              <a:t>БОАР · новый сайт общества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241280" y="6446520"/>
            <a:ext cx="1463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6756E"/>
                </a:solidFill>
                <a:latin typeface="Calibri"/>
              </a:rPr>
              <a:t>2 / 12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8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0972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9A6B3D"/>
                </a:solidFill>
                <a:latin typeface="Calibri"/>
              </a:rPr>
              <a:t>ГЛАВНАЯ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02920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FFFCF7"/>
                </a:solidFill>
                <a:latin typeface="Georgia"/>
              </a:rPr>
              <a:t>Ближайшее заседание — сразу в первом экране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051560"/>
            <a:ext cx="11155680" cy="5074920"/>
          </a:xfrm>
          <a:prstGeom prst="roundRect">
            <a:avLst>
              <a:gd name="adj" fmla="val 4000"/>
            </a:avLst>
          </a:prstGeom>
          <a:solidFill>
            <a:srgbClr val="182E2A"/>
          </a:solidFill>
          <a:ln>
            <a:solidFill>
              <a:srgbClr val="2F4A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1051560"/>
            <a:ext cx="11155680" cy="384048"/>
          </a:xfrm>
          <a:prstGeom prst="rect">
            <a:avLst/>
          </a:prstGeom>
          <a:solidFill>
            <a:srgbClr val="243C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667512" y="1170432"/>
            <a:ext cx="146304" cy="146304"/>
          </a:xfrm>
          <a:prstGeom prst="ellipse">
            <a:avLst/>
          </a:prstGeom>
          <a:solidFill>
            <a:srgbClr val="C76B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923544" y="1170432"/>
            <a:ext cx="146304" cy="146304"/>
          </a:xfrm>
          <a:prstGeom prst="ellipse">
            <a:avLst/>
          </a:prstGeom>
          <a:solidFill>
            <a:srgbClr val="C9A0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179576" y="1170432"/>
            <a:ext cx="146304" cy="146304"/>
          </a:xfrm>
          <a:prstGeom prst="ellipse">
            <a:avLst/>
          </a:prstGeom>
          <a:solidFill>
            <a:srgbClr val="5E9A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1691640" y="1124712"/>
            <a:ext cx="9692640" cy="237744"/>
          </a:xfrm>
          <a:prstGeom prst="roundRect">
            <a:avLst>
              <a:gd name="adj" fmla="val 50000"/>
            </a:avLst>
          </a:prstGeom>
          <a:solidFill>
            <a:srgbClr val="1222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828800" y="1124712"/>
            <a:ext cx="9509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A8B9B3"/>
                </a:solidFill>
                <a:latin typeface="Calibri"/>
              </a:rPr>
              <a:t>leshahker.github.io/bsaer-mockup/</a:t>
            </a:r>
          </a:p>
        </p:txBody>
      </p:sp>
      <p:pic>
        <p:nvPicPr>
          <p:cNvPr id="12" name="Picture 11" descr="01-hom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03627" y="1545336"/>
            <a:ext cx="7154265" cy="4471416"/>
          </a:xfrm>
          <a:prstGeom prst="rect">
            <a:avLst/>
          </a:prstGeom>
        </p:spPr>
      </p:pic>
      <p:sp>
        <p:nvSpPr>
          <p:cNvPr id="13" name="Rectangle 12"/>
          <p:cNvSpPr/>
          <p:nvPr/>
        </p:nvSpPr>
        <p:spPr>
          <a:xfrm>
            <a:off x="2503627" y="1545336"/>
            <a:ext cx="7154265" cy="4471416"/>
          </a:xfrm>
          <a:prstGeom prst="rect">
            <a:avLst/>
          </a:prstGeom>
          <a:noFill/>
          <a:ln w="15875">
            <a:solidFill>
              <a:srgbClr val="3A554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8AA199"/>
                </a:solidFill>
                <a:latin typeface="Calibri"/>
              </a:rPr>
              <a:t>БОАР · новый сайт общества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241280" y="6446520"/>
            <a:ext cx="1463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8AA199"/>
                </a:solidFill>
                <a:latin typeface="Calibri"/>
              </a:rPr>
              <a:t>3 / 12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EE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9A6B3D"/>
                </a:solidFill>
                <a:latin typeface="Calibri"/>
              </a:rPr>
              <a:t>СРАВНЕНИЕ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008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7241F"/>
                </a:solidFill>
                <a:latin typeface="Georgia"/>
              </a:rPr>
              <a:t>Старый сайт → новый продукт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463040"/>
            <a:ext cx="5303520" cy="4572000"/>
          </a:xfrm>
          <a:prstGeom prst="rect">
            <a:avLst/>
          </a:prstGeom>
          <a:solidFill>
            <a:srgbClr val="FAF7F1"/>
          </a:solidFill>
          <a:ln>
            <a:solidFill>
              <a:srgbClr val="8A3A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309360" y="1463040"/>
            <a:ext cx="5303520" cy="4572000"/>
          </a:xfrm>
          <a:prstGeom prst="rect">
            <a:avLst/>
          </a:prstGeom>
          <a:solidFill>
            <a:srgbClr val="FAF7F1"/>
          </a:solidFill>
          <a:ln>
            <a:solidFill>
              <a:srgbClr val="2B5C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645920"/>
            <a:ext cx="4754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8A3A2A"/>
                </a:solidFill>
                <a:latin typeface="Georgia"/>
              </a:rPr>
              <a:t>Было (bsaer.org)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37960" y="1645920"/>
            <a:ext cx="4754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2B5C45"/>
                </a:solidFill>
                <a:latin typeface="Georgia"/>
              </a:rPr>
              <a:t>Стало (новый макет)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194560"/>
            <a:ext cx="475488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17241F"/>
                </a:solidFill>
                <a:latin typeface="Calibri"/>
              </a:rPr>
              <a:t>• Новостная лента как главный экран
• Документы «где-то в разделах»
• Съезды и заседания вперемешку
• Вступление через почту
• Устаревший визуальный язык
• Слабая мобильная читаемость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37960" y="2194560"/>
            <a:ext cx="475488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17241F"/>
                </a:solidFill>
                <a:latin typeface="Calibri"/>
              </a:rPr>
              <a:t>• Действие и заседание сразу
• Каталог с 6 понятными разделами
• Календарь + архив без путаницы
• Форма членства и понятные шаги
• Сдержанный медицинский дизайн
• Адаптив под телефон и проектор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66756E"/>
                </a:solidFill>
                <a:latin typeface="Calibri"/>
              </a:rPr>
              <a:t>БОАР · новый сайт общества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241280" y="6446520"/>
            <a:ext cx="1463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6756E"/>
                </a:solidFill>
                <a:latin typeface="Calibri"/>
              </a:rPr>
              <a:t>4 / 12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8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0972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9A6B3D"/>
                </a:solidFill>
                <a:latin typeface="Calibri"/>
              </a:rPr>
              <a:t>БИБЛИОТЕКА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02920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FFFCF7"/>
                </a:solidFill>
                <a:latin typeface="Georgia"/>
              </a:rPr>
              <a:t>Шесть разделов: книги, протоколы, санэпид, статьи, ФАР, видео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051560"/>
            <a:ext cx="11155680" cy="5074920"/>
          </a:xfrm>
          <a:prstGeom prst="roundRect">
            <a:avLst>
              <a:gd name="adj" fmla="val 4000"/>
            </a:avLst>
          </a:prstGeom>
          <a:solidFill>
            <a:srgbClr val="182E2A"/>
          </a:solidFill>
          <a:ln>
            <a:solidFill>
              <a:srgbClr val="2F4A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1051560"/>
            <a:ext cx="11155680" cy="384048"/>
          </a:xfrm>
          <a:prstGeom prst="rect">
            <a:avLst/>
          </a:prstGeom>
          <a:solidFill>
            <a:srgbClr val="243C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667512" y="1170432"/>
            <a:ext cx="146304" cy="146304"/>
          </a:xfrm>
          <a:prstGeom prst="ellipse">
            <a:avLst/>
          </a:prstGeom>
          <a:solidFill>
            <a:srgbClr val="C76B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923544" y="1170432"/>
            <a:ext cx="146304" cy="146304"/>
          </a:xfrm>
          <a:prstGeom prst="ellipse">
            <a:avLst/>
          </a:prstGeom>
          <a:solidFill>
            <a:srgbClr val="C9A0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179576" y="1170432"/>
            <a:ext cx="146304" cy="146304"/>
          </a:xfrm>
          <a:prstGeom prst="ellipse">
            <a:avLst/>
          </a:prstGeom>
          <a:solidFill>
            <a:srgbClr val="5E9A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1691640" y="1124712"/>
            <a:ext cx="9692640" cy="237744"/>
          </a:xfrm>
          <a:prstGeom prst="roundRect">
            <a:avLst>
              <a:gd name="adj" fmla="val 50000"/>
            </a:avLst>
          </a:prstGeom>
          <a:solidFill>
            <a:srgbClr val="1222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828800" y="1124712"/>
            <a:ext cx="9509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A8B9B3"/>
                </a:solidFill>
                <a:latin typeface="Calibri"/>
              </a:rPr>
              <a:t>leshahker.github.io/bsaer-mockup/library.html</a:t>
            </a:r>
          </a:p>
        </p:txBody>
      </p:sp>
      <p:pic>
        <p:nvPicPr>
          <p:cNvPr id="12" name="Picture 11" descr="02-librar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03627" y="1545336"/>
            <a:ext cx="7154265" cy="4471416"/>
          </a:xfrm>
          <a:prstGeom prst="rect">
            <a:avLst/>
          </a:prstGeom>
        </p:spPr>
      </p:pic>
      <p:sp>
        <p:nvSpPr>
          <p:cNvPr id="13" name="Rectangle 12"/>
          <p:cNvSpPr/>
          <p:nvPr/>
        </p:nvSpPr>
        <p:spPr>
          <a:xfrm>
            <a:off x="2503627" y="1545336"/>
            <a:ext cx="7154265" cy="4471416"/>
          </a:xfrm>
          <a:prstGeom prst="rect">
            <a:avLst/>
          </a:prstGeom>
          <a:noFill/>
          <a:ln w="15875">
            <a:solidFill>
              <a:srgbClr val="3A554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8AA199"/>
                </a:solidFill>
                <a:latin typeface="Calibri"/>
              </a:rPr>
              <a:t>БОАР · новый сайт общества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241280" y="6446520"/>
            <a:ext cx="1463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8AA199"/>
                </a:solidFill>
                <a:latin typeface="Calibri"/>
              </a:rPr>
              <a:t>5 / 12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8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0972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9A6B3D"/>
                </a:solidFill>
                <a:latin typeface="Calibri"/>
              </a:rPr>
              <a:t>ПРОТОКОЛЫ И САНЭПИД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02920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FFFCF7"/>
                </a:solidFill>
                <a:latin typeface="Georgia"/>
              </a:rPr>
              <a:t>Документы разложены так, как ими пользуются врачи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051560"/>
            <a:ext cx="11155680" cy="5074920"/>
          </a:xfrm>
          <a:prstGeom prst="roundRect">
            <a:avLst>
              <a:gd name="adj" fmla="val 4000"/>
            </a:avLst>
          </a:prstGeom>
          <a:solidFill>
            <a:srgbClr val="182E2A"/>
          </a:solidFill>
          <a:ln>
            <a:solidFill>
              <a:srgbClr val="2F4A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1051560"/>
            <a:ext cx="11155680" cy="384048"/>
          </a:xfrm>
          <a:prstGeom prst="rect">
            <a:avLst/>
          </a:prstGeom>
          <a:solidFill>
            <a:srgbClr val="243C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667512" y="1170432"/>
            <a:ext cx="146304" cy="146304"/>
          </a:xfrm>
          <a:prstGeom prst="ellipse">
            <a:avLst/>
          </a:prstGeom>
          <a:solidFill>
            <a:srgbClr val="C76B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923544" y="1170432"/>
            <a:ext cx="146304" cy="146304"/>
          </a:xfrm>
          <a:prstGeom prst="ellipse">
            <a:avLst/>
          </a:prstGeom>
          <a:solidFill>
            <a:srgbClr val="C9A0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179576" y="1170432"/>
            <a:ext cx="146304" cy="146304"/>
          </a:xfrm>
          <a:prstGeom prst="ellipse">
            <a:avLst/>
          </a:prstGeom>
          <a:solidFill>
            <a:srgbClr val="5E9A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1691640" y="1124712"/>
            <a:ext cx="9692640" cy="237744"/>
          </a:xfrm>
          <a:prstGeom prst="roundRect">
            <a:avLst>
              <a:gd name="adj" fmla="val 50000"/>
            </a:avLst>
          </a:prstGeom>
          <a:solidFill>
            <a:srgbClr val="1222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828800" y="1124712"/>
            <a:ext cx="9509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A8B9B3"/>
                </a:solidFill>
                <a:latin typeface="Calibri"/>
              </a:rPr>
              <a:t>leshahker.github.io/bsaer-mockup/library.html#protocols</a:t>
            </a:r>
          </a:p>
        </p:txBody>
      </p:sp>
      <p:pic>
        <p:nvPicPr>
          <p:cNvPr id="12" name="Picture 11" descr="08-library-protocol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03627" y="1545336"/>
            <a:ext cx="7154265" cy="4471416"/>
          </a:xfrm>
          <a:prstGeom prst="rect">
            <a:avLst/>
          </a:prstGeom>
        </p:spPr>
      </p:pic>
      <p:sp>
        <p:nvSpPr>
          <p:cNvPr id="13" name="Rectangle 12"/>
          <p:cNvSpPr/>
          <p:nvPr/>
        </p:nvSpPr>
        <p:spPr>
          <a:xfrm>
            <a:off x="2503627" y="1545336"/>
            <a:ext cx="7154265" cy="4471416"/>
          </a:xfrm>
          <a:prstGeom prst="rect">
            <a:avLst/>
          </a:prstGeom>
          <a:noFill/>
          <a:ln w="15875">
            <a:solidFill>
              <a:srgbClr val="3A554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8AA199"/>
                </a:solidFill>
                <a:latin typeface="Calibri"/>
              </a:rPr>
              <a:t>БОАР · новый сайт общества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241280" y="6446520"/>
            <a:ext cx="1463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8AA199"/>
                </a:solidFill>
                <a:latin typeface="Calibri"/>
              </a:rPr>
              <a:t>6 / 12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8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0972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9A6B3D"/>
                </a:solidFill>
                <a:latin typeface="Calibri"/>
              </a:rPr>
              <a:t>СОБЫТИЯ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02920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FFFCF7"/>
                </a:solidFill>
                <a:latin typeface="Georgia"/>
              </a:rPr>
              <a:t>Календарь ближайших заседаний и архив съездов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051560"/>
            <a:ext cx="11155680" cy="5074920"/>
          </a:xfrm>
          <a:prstGeom prst="roundRect">
            <a:avLst>
              <a:gd name="adj" fmla="val 4000"/>
            </a:avLst>
          </a:prstGeom>
          <a:solidFill>
            <a:srgbClr val="182E2A"/>
          </a:solidFill>
          <a:ln>
            <a:solidFill>
              <a:srgbClr val="2F4A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1051560"/>
            <a:ext cx="11155680" cy="384048"/>
          </a:xfrm>
          <a:prstGeom prst="rect">
            <a:avLst/>
          </a:prstGeom>
          <a:solidFill>
            <a:srgbClr val="243C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667512" y="1170432"/>
            <a:ext cx="146304" cy="146304"/>
          </a:xfrm>
          <a:prstGeom prst="ellipse">
            <a:avLst/>
          </a:prstGeom>
          <a:solidFill>
            <a:srgbClr val="C76B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923544" y="1170432"/>
            <a:ext cx="146304" cy="146304"/>
          </a:xfrm>
          <a:prstGeom prst="ellipse">
            <a:avLst/>
          </a:prstGeom>
          <a:solidFill>
            <a:srgbClr val="C9A0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179576" y="1170432"/>
            <a:ext cx="146304" cy="146304"/>
          </a:xfrm>
          <a:prstGeom prst="ellipse">
            <a:avLst/>
          </a:prstGeom>
          <a:solidFill>
            <a:srgbClr val="5E9A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1691640" y="1124712"/>
            <a:ext cx="9692640" cy="237744"/>
          </a:xfrm>
          <a:prstGeom prst="roundRect">
            <a:avLst>
              <a:gd name="adj" fmla="val 50000"/>
            </a:avLst>
          </a:prstGeom>
          <a:solidFill>
            <a:srgbClr val="1222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828800" y="1124712"/>
            <a:ext cx="9509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A8B9B3"/>
                </a:solidFill>
                <a:latin typeface="Calibri"/>
              </a:rPr>
              <a:t>leshahker.github.io/bsaer-mockup/events.html</a:t>
            </a:r>
          </a:p>
        </p:txBody>
      </p:sp>
      <p:pic>
        <p:nvPicPr>
          <p:cNvPr id="12" name="Picture 11" descr="03-even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03627" y="1545336"/>
            <a:ext cx="7154265" cy="4471416"/>
          </a:xfrm>
          <a:prstGeom prst="rect">
            <a:avLst/>
          </a:prstGeom>
        </p:spPr>
      </p:pic>
      <p:sp>
        <p:nvSpPr>
          <p:cNvPr id="13" name="Rectangle 12"/>
          <p:cNvSpPr/>
          <p:nvPr/>
        </p:nvSpPr>
        <p:spPr>
          <a:xfrm>
            <a:off x="2503627" y="1545336"/>
            <a:ext cx="7154265" cy="4471416"/>
          </a:xfrm>
          <a:prstGeom prst="rect">
            <a:avLst/>
          </a:prstGeom>
          <a:noFill/>
          <a:ln w="15875">
            <a:solidFill>
              <a:srgbClr val="3A554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8AA199"/>
                </a:solidFill>
                <a:latin typeface="Calibri"/>
              </a:rPr>
              <a:t>БОАР · новый сайт общества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241280" y="6446520"/>
            <a:ext cx="1463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8AA199"/>
                </a:solidFill>
                <a:latin typeface="Calibri"/>
              </a:rPr>
              <a:t>7 / 12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8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0972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9A6B3D"/>
                </a:solidFill>
                <a:latin typeface="Calibri"/>
              </a:rPr>
              <a:t>ВСТУПЛЕНИЕ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02920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FFFCF7"/>
                </a:solidFill>
                <a:latin typeface="Georgia"/>
              </a:rPr>
              <a:t>Путь в членство: статус → заявка → взнос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051560"/>
            <a:ext cx="11155680" cy="5074920"/>
          </a:xfrm>
          <a:prstGeom prst="roundRect">
            <a:avLst>
              <a:gd name="adj" fmla="val 4000"/>
            </a:avLst>
          </a:prstGeom>
          <a:solidFill>
            <a:srgbClr val="182E2A"/>
          </a:solidFill>
          <a:ln>
            <a:solidFill>
              <a:srgbClr val="2F4A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1051560"/>
            <a:ext cx="11155680" cy="384048"/>
          </a:xfrm>
          <a:prstGeom prst="rect">
            <a:avLst/>
          </a:prstGeom>
          <a:solidFill>
            <a:srgbClr val="243C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667512" y="1170432"/>
            <a:ext cx="146304" cy="146304"/>
          </a:xfrm>
          <a:prstGeom prst="ellipse">
            <a:avLst/>
          </a:prstGeom>
          <a:solidFill>
            <a:srgbClr val="C76B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923544" y="1170432"/>
            <a:ext cx="146304" cy="146304"/>
          </a:xfrm>
          <a:prstGeom prst="ellipse">
            <a:avLst/>
          </a:prstGeom>
          <a:solidFill>
            <a:srgbClr val="C9A0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179576" y="1170432"/>
            <a:ext cx="146304" cy="146304"/>
          </a:xfrm>
          <a:prstGeom prst="ellipse">
            <a:avLst/>
          </a:prstGeom>
          <a:solidFill>
            <a:srgbClr val="5E9A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1691640" y="1124712"/>
            <a:ext cx="9692640" cy="237744"/>
          </a:xfrm>
          <a:prstGeom prst="roundRect">
            <a:avLst>
              <a:gd name="adj" fmla="val 50000"/>
            </a:avLst>
          </a:prstGeom>
          <a:solidFill>
            <a:srgbClr val="1222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828800" y="1124712"/>
            <a:ext cx="9509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A8B9B3"/>
                </a:solidFill>
                <a:latin typeface="Calibri"/>
              </a:rPr>
              <a:t>leshahker.github.io/bsaer-mockup/join.html</a:t>
            </a:r>
          </a:p>
        </p:txBody>
      </p:sp>
      <p:pic>
        <p:nvPicPr>
          <p:cNvPr id="12" name="Picture 11" descr="05-jo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03627" y="1545336"/>
            <a:ext cx="7154265" cy="4471416"/>
          </a:xfrm>
          <a:prstGeom prst="rect">
            <a:avLst/>
          </a:prstGeom>
        </p:spPr>
      </p:pic>
      <p:sp>
        <p:nvSpPr>
          <p:cNvPr id="13" name="Rectangle 12"/>
          <p:cNvSpPr/>
          <p:nvPr/>
        </p:nvSpPr>
        <p:spPr>
          <a:xfrm>
            <a:off x="2503627" y="1545336"/>
            <a:ext cx="7154265" cy="4471416"/>
          </a:xfrm>
          <a:prstGeom prst="rect">
            <a:avLst/>
          </a:prstGeom>
          <a:noFill/>
          <a:ln w="15875">
            <a:solidFill>
              <a:srgbClr val="3A554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8AA199"/>
                </a:solidFill>
                <a:latin typeface="Calibri"/>
              </a:rPr>
              <a:t>БОАР · новый сайт общества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241280" y="6446520"/>
            <a:ext cx="1463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8AA199"/>
                </a:solidFill>
                <a:latin typeface="Calibri"/>
              </a:rPr>
              <a:t>8 / 12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8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0972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9A6B3D"/>
                </a:solidFill>
                <a:latin typeface="Calibri"/>
              </a:rPr>
              <a:t>ПАЦИЕНТАМ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02920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FFFCF7"/>
                </a:solidFill>
                <a:latin typeface="Georgia"/>
              </a:rPr>
              <a:t>Спокойные ответы без ложных обещаний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051560"/>
            <a:ext cx="11155680" cy="5074920"/>
          </a:xfrm>
          <a:prstGeom prst="roundRect">
            <a:avLst>
              <a:gd name="adj" fmla="val 4000"/>
            </a:avLst>
          </a:prstGeom>
          <a:solidFill>
            <a:srgbClr val="182E2A"/>
          </a:solidFill>
          <a:ln>
            <a:solidFill>
              <a:srgbClr val="2F4A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1051560"/>
            <a:ext cx="11155680" cy="384048"/>
          </a:xfrm>
          <a:prstGeom prst="rect">
            <a:avLst/>
          </a:prstGeom>
          <a:solidFill>
            <a:srgbClr val="243C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667512" y="1170432"/>
            <a:ext cx="146304" cy="146304"/>
          </a:xfrm>
          <a:prstGeom prst="ellipse">
            <a:avLst/>
          </a:prstGeom>
          <a:solidFill>
            <a:srgbClr val="C76B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923544" y="1170432"/>
            <a:ext cx="146304" cy="146304"/>
          </a:xfrm>
          <a:prstGeom prst="ellipse">
            <a:avLst/>
          </a:prstGeom>
          <a:solidFill>
            <a:srgbClr val="C9A0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179576" y="1170432"/>
            <a:ext cx="146304" cy="146304"/>
          </a:xfrm>
          <a:prstGeom prst="ellipse">
            <a:avLst/>
          </a:prstGeom>
          <a:solidFill>
            <a:srgbClr val="5E9A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1691640" y="1124712"/>
            <a:ext cx="9692640" cy="237744"/>
          </a:xfrm>
          <a:prstGeom prst="roundRect">
            <a:avLst>
              <a:gd name="adj" fmla="val 50000"/>
            </a:avLst>
          </a:prstGeom>
          <a:solidFill>
            <a:srgbClr val="1222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828800" y="1124712"/>
            <a:ext cx="9509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A8B9B3"/>
                </a:solidFill>
                <a:latin typeface="Calibri"/>
              </a:rPr>
              <a:t>leshahker.github.io/bsaer-mockup/patients.html</a:t>
            </a:r>
          </a:p>
        </p:txBody>
      </p:sp>
      <p:pic>
        <p:nvPicPr>
          <p:cNvPr id="12" name="Picture 11" descr="04-patien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03627" y="1545336"/>
            <a:ext cx="7154265" cy="4471416"/>
          </a:xfrm>
          <a:prstGeom prst="rect">
            <a:avLst/>
          </a:prstGeom>
        </p:spPr>
      </p:pic>
      <p:sp>
        <p:nvSpPr>
          <p:cNvPr id="13" name="Rectangle 12"/>
          <p:cNvSpPr/>
          <p:nvPr/>
        </p:nvSpPr>
        <p:spPr>
          <a:xfrm>
            <a:off x="2503627" y="1545336"/>
            <a:ext cx="7154265" cy="4471416"/>
          </a:xfrm>
          <a:prstGeom prst="rect">
            <a:avLst/>
          </a:prstGeom>
          <a:noFill/>
          <a:ln w="15875">
            <a:solidFill>
              <a:srgbClr val="3A554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8AA199"/>
                </a:solidFill>
                <a:latin typeface="Calibri"/>
              </a:rPr>
              <a:t>БОАР · новый сайт общества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241280" y="6446520"/>
            <a:ext cx="1463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8AA199"/>
                </a:solidFill>
                <a:latin typeface="Calibri"/>
              </a:rPr>
              <a:t>9 / 12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8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0972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9A6B3D"/>
                </a:solidFill>
                <a:latin typeface="Calibri"/>
              </a:rPr>
              <a:t>КАБИНЕТ ЧЛЕНА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02920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FFFCF7"/>
                </a:solidFill>
                <a:latin typeface="Georgia"/>
              </a:rPr>
              <a:t>Демо личного кабинета — задел под закрытую зону и чат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051560"/>
            <a:ext cx="11155680" cy="5074920"/>
          </a:xfrm>
          <a:prstGeom prst="roundRect">
            <a:avLst>
              <a:gd name="adj" fmla="val 4000"/>
            </a:avLst>
          </a:prstGeom>
          <a:solidFill>
            <a:srgbClr val="182E2A"/>
          </a:solidFill>
          <a:ln>
            <a:solidFill>
              <a:srgbClr val="2F4A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1051560"/>
            <a:ext cx="11155680" cy="384048"/>
          </a:xfrm>
          <a:prstGeom prst="rect">
            <a:avLst/>
          </a:prstGeom>
          <a:solidFill>
            <a:srgbClr val="243C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667512" y="1170432"/>
            <a:ext cx="146304" cy="146304"/>
          </a:xfrm>
          <a:prstGeom prst="ellipse">
            <a:avLst/>
          </a:prstGeom>
          <a:solidFill>
            <a:srgbClr val="C76B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923544" y="1170432"/>
            <a:ext cx="146304" cy="146304"/>
          </a:xfrm>
          <a:prstGeom prst="ellipse">
            <a:avLst/>
          </a:prstGeom>
          <a:solidFill>
            <a:srgbClr val="C9A0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179576" y="1170432"/>
            <a:ext cx="146304" cy="146304"/>
          </a:xfrm>
          <a:prstGeom prst="ellipse">
            <a:avLst/>
          </a:prstGeom>
          <a:solidFill>
            <a:srgbClr val="5E9A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1691640" y="1124712"/>
            <a:ext cx="9692640" cy="237744"/>
          </a:xfrm>
          <a:prstGeom prst="roundRect">
            <a:avLst>
              <a:gd name="adj" fmla="val 50000"/>
            </a:avLst>
          </a:prstGeom>
          <a:solidFill>
            <a:srgbClr val="1222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828800" y="1124712"/>
            <a:ext cx="9509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A8B9B3"/>
                </a:solidFill>
                <a:latin typeface="Calibri"/>
              </a:rPr>
              <a:t>leshahker.github.io/bsaer-mockup/cabinet/</a:t>
            </a:r>
          </a:p>
        </p:txBody>
      </p:sp>
      <p:pic>
        <p:nvPicPr>
          <p:cNvPr id="12" name="Picture 11" descr="06-cabine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03627" y="1545336"/>
            <a:ext cx="7154265" cy="4471416"/>
          </a:xfrm>
          <a:prstGeom prst="rect">
            <a:avLst/>
          </a:prstGeom>
        </p:spPr>
      </p:pic>
      <p:sp>
        <p:nvSpPr>
          <p:cNvPr id="13" name="Rectangle 12"/>
          <p:cNvSpPr/>
          <p:nvPr/>
        </p:nvSpPr>
        <p:spPr>
          <a:xfrm>
            <a:off x="2503627" y="1545336"/>
            <a:ext cx="7154265" cy="4471416"/>
          </a:xfrm>
          <a:prstGeom prst="rect">
            <a:avLst/>
          </a:prstGeom>
          <a:noFill/>
          <a:ln w="15875">
            <a:solidFill>
              <a:srgbClr val="3A554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8AA199"/>
                </a:solidFill>
                <a:latin typeface="Calibri"/>
              </a:rPr>
              <a:t>БОАР · новый сайт общества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241280" y="6446520"/>
            <a:ext cx="1463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8AA199"/>
                </a:solidFill>
                <a:latin typeface="Calibri"/>
              </a:rPr>
              <a:t>10 / 12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EE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9A6B3D"/>
                </a:solidFill>
                <a:latin typeface="Calibri"/>
              </a:rPr>
              <a:t>ПРЕИМУЩЕСТВА ПРОДУКТА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008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7241F"/>
                </a:solidFill>
                <a:latin typeface="Georgia"/>
              </a:rPr>
              <a:t>Почему это лучше «просто обновить WordPress»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645920"/>
            <a:ext cx="914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9A6B3D"/>
                </a:solidFill>
                <a:latin typeface="Georgia"/>
              </a:rPr>
              <a:t>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54480" y="1645920"/>
            <a:ext cx="9601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17241F"/>
                </a:solidFill>
                <a:latin typeface="Calibri"/>
              </a:rPr>
              <a:t>Архитектура под задачи службы АиР, а не под шаблон блога.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697480"/>
            <a:ext cx="914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9A6B3D"/>
                </a:solidFill>
                <a:latin typeface="Georgia"/>
              </a:rPr>
              <a:t>II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54480" y="2697480"/>
            <a:ext cx="9601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17241F"/>
                </a:solidFill>
                <a:latin typeface="Calibri"/>
              </a:rPr>
              <a:t>Контент заказчика уже разложен: протоколы и санэпид из рабочих перечней.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3749039"/>
            <a:ext cx="914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9A6B3D"/>
                </a:solidFill>
                <a:latin typeface="Georgia"/>
              </a:rPr>
              <a:t>III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54480" y="3749039"/>
            <a:ext cx="9601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17241F"/>
                </a:solidFill>
                <a:latin typeface="Calibri"/>
              </a:rPr>
              <a:t>Готовность к хостингу общества: статика сейчас, сервер чата — следующим этапом.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4800600"/>
            <a:ext cx="914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9A6B3D"/>
                </a:solidFill>
                <a:latin typeface="Georgia"/>
              </a:rPr>
              <a:t>IV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54480" y="4800600"/>
            <a:ext cx="9601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17241F"/>
                </a:solidFill>
                <a:latin typeface="Calibri"/>
              </a:rPr>
              <a:t>Можно согласовывать по экранам: каждый раздел читается отдельно.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66756E"/>
                </a:solidFill>
                <a:latin typeface="Calibri"/>
              </a:rPr>
              <a:t>БОАР · новый сайт общества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241280" y="6446520"/>
            <a:ext cx="1463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6756E"/>
                </a:solidFill>
                <a:latin typeface="Calibri"/>
              </a:rPr>
              <a:t>11 / 12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8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9A6B3D"/>
                </a:solidFill>
                <a:latin typeface="Calibri"/>
              </a:rPr>
              <a:t>ПРЕДЛОЖЕНИЕ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920240"/>
            <a:ext cx="105156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>
                <a:solidFill>
                  <a:srgbClr val="FFFCF7"/>
                </a:solidFill>
                <a:latin typeface="Georgia"/>
              </a:rPr>
              <a:t>Согласовать макет
и перенести на хостинг общества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931920"/>
            <a:ext cx="100584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C5D4CE"/>
                </a:solidFill>
                <a:latin typeface="Calibri"/>
              </a:rPr>
              <a:t>Живой сайт для показа:
https://leshahker.github.io/bsaer-mockup/
Кабинет: /cabinet/  ·  демо-вход admin / admin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94360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756E"/>
                </a:solidFill>
                <a:latin typeface="Calibri"/>
              </a:rPr>
              <a:t>Спасибо · БОАР · сентябрь 2026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